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4B4FF"/>
                </a:solidFill>
              </a:defRPr>
            </a:pPr>
            <a:r>
              <a:t>BLUESTOCK FINTECH</a:t>
            </a:r>
          </a:p>
          <a:p>
            <a:pPr>
              <a:spcBef>
                <a:spcPts val="1000"/>
              </a:spcBef>
              <a:defRPr sz="4200" b="1">
                <a:solidFill>
                  <a:srgbClr val="FFFFFF"/>
                </a:solidFill>
              </a:defRPr>
            </a:pPr>
            <a:r>
              <a:t>Mutual Fund Analytics Platform</a:t>
            </a:r>
          </a:p>
          <a:p>
            <a:pPr>
              <a:spcBef>
                <a:spcPts val="1400"/>
              </a:spcBef>
              <a:defRPr sz="1800">
                <a:solidFill>
                  <a:srgbClr val="DCE6F5"/>
                </a:solidFill>
              </a:defRPr>
            </a:pPr>
            <a:r>
              <a:t>End-to-End Data Engineering, ETL Pipeline, Financial Risk Analytics &amp; Interactive Dashboard</a:t>
            </a:r>
          </a:p>
          <a:p>
            <a:pPr>
              <a:spcBef>
                <a:spcPts val="2400"/>
              </a:spcBef>
              <a:defRPr sz="1400">
                <a:solidFill>
                  <a:srgbClr val="B4CDEB"/>
                </a:solidFill>
              </a:defRPr>
            </a:pPr>
            <a:r>
              <a:t>Milestone: Day 1 Ingestion Complete  |  GitHub: rajeevreddy23/Day-1-Data-ingestion-complete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2C57"/>
                </a:solidFill>
              </a:defRPr>
            </a:pPr>
            <a:r>
              <a:t>Executive Summary &amp; Business Context</a:t>
            </a:r>
          </a:p>
          <a:p>
            <a:pPr>
              <a:spcBef>
                <a:spcPts val="400"/>
              </a:spcBef>
              <a:defRPr sz="1400">
                <a:solidFill>
                  <a:srgbClr val="6C757D"/>
                </a:solidFill>
              </a:defRPr>
            </a:pPr>
            <a:r>
              <a:t>Empowering retail and institutional investors with unified, institutional-grade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Industry Growth Drivers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Indian Mutual Fund AUM crossed Rs. 81 Lakh Crore in 2025 across 1,908 schemes.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Monthly SIP inflows breached all-time high of Rs. 31,000+ Crore.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Total mutual fund investor folios exceed 26.1 Crore, reflecting deep equity adoption.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Retail investors demand objective risk-adjusted analytics beyond simple past returns.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Platform Deliverables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Full-Stack ETL: Ingests 10 AMFI datasets + automated live REST API from mfapi.in.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High-Performance Database: Relational 8-table star schema SQLite database.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Institutional Risk Metrics: Sharpe, Sortino, Alpha, Beta, Max Drawdown, and VaR/CVaR.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Interactive UI: 4-page Streamlit web dashboard for multi-fund screening and portfolio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2C57"/>
                </a:solidFill>
              </a:defRPr>
            </a:pPr>
            <a:r>
              <a:t>The Core Problem Statement</a:t>
            </a:r>
          </a:p>
          <a:p>
            <a:pPr>
              <a:spcBef>
                <a:spcPts val="400"/>
              </a:spcBef>
              <a:defRPr sz="1400">
                <a:solidFill>
                  <a:srgbClr val="6C757D"/>
                </a:solidFill>
              </a:defRPr>
            </a:pPr>
            <a:r>
              <a:t>Resolving data fragmentation and comparison gaps in the Indian MF ecosystem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P1: Data Fragmentation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NAV, AUM, portfolio holdings, and SIP flow statistics reside in disparate AMFI formats (TXT, HTML, PDF).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No single unified analytical database existed for direct cross-AMC querying.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Solution: Built standardized ETL pipeline consolidating all feeds into SQLite.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645920"/>
            <a:ext cx="338328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P2: Risk Analytics Gap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Investors rely solely on 1-year or 3-year absolute returns without volatility adjustment.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High returns frequently mask dangerous drawdown risks.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Solution: Automated computation of Sharpe, Sortino, and Value-at-Risk across all 40 schemes.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645920"/>
            <a:ext cx="338328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P3: Benchmark Tracking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Retail folios often lack active Alpha/Beta benchmarking against Nifty 50 / BSE indices.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Expense ratios directly erode compounding yields over multi-year horizons.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Solution: Built transparent benchmark alpha attribution and direct vs regular plan comparison.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2C57"/>
                </a:solidFill>
              </a:defRPr>
            </a:pPr>
            <a:r>
              <a:t>System Architecture &amp; ETL Pipeline</a:t>
            </a:r>
          </a:p>
          <a:p>
            <a:pPr>
              <a:spcBef>
                <a:spcPts val="400"/>
              </a:spcBef>
              <a:defRPr sz="1400">
                <a:solidFill>
                  <a:srgbClr val="6C757D"/>
                </a:solidFill>
              </a:defRPr>
            </a:pPr>
            <a:r>
              <a:t>End-to-end data pipeline from raw ingestion to analytical reporting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1. Extraction Layer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10 Provided CSV Datasets (87,000+ records).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REST API Ingestion: Real-time NAV from mfapi.in.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6 Schemes tracked dynamically with JSON parsing.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Automated anomaly and null-value detection.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645920"/>
            <a:ext cx="338328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2. Transformation &amp; Storage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Data cleaning, type casting &amp; datetime ISO conversion.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Star Schema Relational SQLite Database (bluestock_mf.db).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dim_fund, dim_date, fact_nav, fact_transactions, fact_performance, fact_aum, fact_sip_industry.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100% AMFI scheme code referential integrity.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645920"/>
            <a:ext cx="338328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3. Analytics &amp; UI Layer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Financial math engine: Sharpe, Sortino, Alpha, Beta, CAGR.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Advanced metrics: Rolling 90-day Sharpe, Cornish-Fisher VaR, HHI sector concentration.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Streamlit Web Dashboard with interactive Plotly visual charts.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SQL query engine for high-speed dimensional filtering.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2C57"/>
                </a:solidFill>
              </a:defRPr>
            </a:pPr>
            <a:r>
              <a:t>Day 1 Ingestion &amp; Live API Verification</a:t>
            </a:r>
          </a:p>
          <a:p>
            <a:pPr>
              <a:spcBef>
                <a:spcPts val="400"/>
              </a:spcBef>
              <a:defRPr sz="1400">
                <a:solidFill>
                  <a:srgbClr val="6C757D"/>
                </a:solidFill>
              </a:defRPr>
            </a:pPr>
            <a:r>
              <a:t>Detailed execution summary of Day 1 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Automated Dataset Ingestion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Loaded all 10 AMFI datasets (40 schemes, 46,000 NAV records, 32,778 transactions).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Programmatic verification of .shape, .dtypes, and .head().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Identified and logged 12 expected YoY lookback nulls in 04_monthly_sip_inflows.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Zero duplicate rows and zero negative NAV records detected.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Live REST API Ingestion (mfapi.in)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Anchor Scheme: HDFC Top 100 Direct (AMFI 125497) -&gt; 3,161 records ingested.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SBI Bluechip (119551) -&gt; 3,305 records fetched.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ICICI Bluechip (120503) -&gt; 3,377 records fetched.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Nippon Large Cap (118632) -&gt; 3,368 records fetched.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Axis Bluechip (119092) -&gt; 3,634 records fetched.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Kotak Bluechip (120841) -&gt; 3,371 records fetched.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Persisted as clean CSVs in data/raw/ directory.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2C57"/>
                </a:solidFill>
              </a:defRPr>
            </a:pPr>
            <a:r>
              <a:t>Relational Star Schema Database Design</a:t>
            </a:r>
          </a:p>
          <a:p>
            <a:pPr>
              <a:spcBef>
                <a:spcPts val="400"/>
              </a:spcBef>
              <a:defRPr sz="1400">
                <a:solidFill>
                  <a:srgbClr val="6C757D"/>
                </a:solidFill>
              </a:defRPr>
            </a:pPr>
            <a:r>
              <a:t>bluestock_mf.db: Normalized star schema optimized for OLAP analytical queries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Dimension Tables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dim_fund (40 rows): amfi_code (PK), fund_house, scheme_name, category, sub_category, plan, expense_ratio, risk_category.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dim_date (1,500+ rows): date (PK), year, quarter, month, day, day_of_week, is_weekend.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Enables rapid slicing by AMC, Category, Risk Grade, and 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Fact Tables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fact_nav (46,000 rows): amfi_code (FK), date (FK), nav, daily_return.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fact_transactions (32,778 rows): investor_id, amount_inr, transaction_type, state, city_tier.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fact_performance (40 rows): Sharpe, Sortino, Alpha, Beta, Max Drawdown.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fact_aum (90 rows): Quarterly AUM by fund house.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fact_sip_industry (48 rows): Monthly industry-wide SIP 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2C57"/>
                </a:solidFill>
              </a:defRPr>
            </a:pPr>
            <a:r>
              <a:t>Exploratory Data Analysis Highlights</a:t>
            </a:r>
          </a:p>
          <a:p>
            <a:pPr>
              <a:spcBef>
                <a:spcPts val="400"/>
              </a:spcBef>
              <a:defRPr sz="1400">
                <a:solidFill>
                  <a:srgbClr val="6C757D"/>
                </a:solidFill>
              </a:defRPr>
            </a:pPr>
            <a:r>
              <a:t>Key findings from macro industry trends and micro fund distributions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Macro Industry Dynamics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AUM Concentration: Top 3 AMCs (SBI, ICICI, HDFC) control &gt;50% of aggregate industry AUM.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SIP Compounding: Monthly SIP inflows expanded from Rs. 11,517 Cr (Jan 2022) to &gt;Rs. 25,000 Cr in 2025.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Geographic Expansion: Tier 2/3 (B30) cities represent 42%+ of all transaction volumes.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Equity Dominance: Equity mutual funds capture over 70% of total investor folios.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Fund Master Insights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40 Schemes evaluated across 10 top asset management companies (AMCs).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Sub-categories: 14 Large Cap, 7 Mid Cap, 6 Small Cap, 6 Debt/Liquid, 7 Hybrid/Other.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Expense Ratios: Direct plans average 0.78% vs Regular plans at 1.62% (~84 bps delta).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100% AMFI code referential integrity across all fact and dimension tables.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2C57"/>
                </a:solidFill>
              </a:defRPr>
            </a:pPr>
            <a:r>
              <a:t>Fund Performance &amp; Risk Analytics</a:t>
            </a:r>
          </a:p>
          <a:p>
            <a:pPr>
              <a:spcBef>
                <a:spcPts val="400"/>
              </a:spcBef>
              <a:defRPr sz="1400">
                <a:solidFill>
                  <a:srgbClr val="6C757D"/>
                </a:solidFill>
              </a:defRPr>
            </a:pPr>
            <a:r>
              <a:t>Risk-adjusted performance scoring across equity and debt categories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Key Financial Metrics Computed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CAGR: Compound Annual Growth Rate over 1-year, 3-year, and 5-year periods.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Sharpe Ratio: Excess return per unit of total risk (annualized standard deviation).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Sortino Ratio: Excess return adjusted specifically for downside semivariance.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Treynor Ratio &amp; Jensen's Alpha: True active managerial value add over benchmark.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Beta: Systemic market sensitivity relative to Nifty 50.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Performance Findings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Small Cap and Mid Cap funds delivered superior 3-year annualized returns (&gt;18-22%).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Large Cap Bluechip funds demonstrated highest Sortino ratios with limited downside drawdowns.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Nippon Large Cap and ICICI Bluechip consistently generated positive Alpha vs Nifty 50.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Direct plans outperformed Regular plan counterparts by 1.2% - 1.8% annualized net CAGR.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2C57"/>
                </a:solidFill>
              </a:defRPr>
            </a:pPr>
            <a:r>
              <a:t>Advanced Analytics &amp; Institutional Risk</a:t>
            </a:r>
          </a:p>
          <a:p>
            <a:pPr>
              <a:spcBef>
                <a:spcPts val="400"/>
              </a:spcBef>
              <a:defRPr sz="1400">
                <a:solidFill>
                  <a:srgbClr val="6C757D"/>
                </a:solidFill>
              </a:defRPr>
            </a:pPr>
            <a:r>
              <a:t>Advanced statistical risk modeling: Rolling Sharpe, VaR/CVaR, and Concentration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Value-at-Risk (VaR &amp; CVaR)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Parametric &amp; Cornish-Fisher VaR computed at 95% and 99% confidence intervals.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Conditional VaR (CVaR / Expected Shortfall) quantifies tail-risk losses during market crashes.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Debt/Liquid funds exhibited near-zero VaR (&lt;0.08% daily), confirming capital preservation.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Small Cap funds demonstrated 99% daily VaR of ~2.4%.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Portfolio Concentration &amp; Cohorts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Herfindahl-Hirschman Index (HHI) computed for sector and stock portfolio weights.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Banking &amp; Financial Services represented largest sector weight (~32%) across large caps.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Rolling 90-Day Sharpe reveals risk-adjusted performance stability through market cycles.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Investor Cohort Analysis shows strong SIP continuity (&gt;82% retention at 12 months).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2C57"/>
                </a:solidFill>
              </a:defRPr>
            </a:pPr>
            <a:r>
              <a:t>Interactive Streamlit Web Application</a:t>
            </a:r>
          </a:p>
          <a:p>
            <a:pPr>
              <a:spcBef>
                <a:spcPts val="400"/>
              </a:spcBef>
              <a:defRPr sz="1400">
                <a:solidFill>
                  <a:srgbClr val="6C757D"/>
                </a:solidFill>
              </a:defRPr>
            </a:pPr>
            <a:r>
              <a:t>Full-featured interactive multi-page analytics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Dashboard Pages &amp; Features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Page 1: Industry Macro Trends (AUM growth, SIP inflow trajectories, folio expansion).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Page 2: Fund Performance &amp; Screener (Interactive NAV comparisons, Sharpe/Sortino scatter plots).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Page 3: Investor Demographics (State-wise SIP heatmaps, T30 vs B30 adoption, payment modes).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Page 4: Risk Analytics &amp; Holdings (Sector HHI, VaR matrices, rolling Sharpe trends).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User Experience Highlights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Interactive Plotly visualizations with zoom, pan, hover tooltips.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Dynamic filtering by AMC, Sub-Category, Risk Grade, and Time Horizon.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Real-time database connectivity to bluestock_mf.db via SQLAlchemy.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One-click CSV data export for institutional analysts.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2C57"/>
                </a:solidFill>
              </a:defRPr>
            </a:pPr>
            <a:r>
              <a:t>Strategic Business Recommendations for Bluestock</a:t>
            </a:r>
          </a:p>
          <a:p>
            <a:pPr>
              <a:spcBef>
                <a:spcPts val="400"/>
              </a:spcBef>
              <a:defRPr sz="1400">
                <a:solidFill>
                  <a:srgbClr val="6C757D"/>
                </a:solidFill>
              </a:defRPr>
            </a:pPr>
            <a:r>
              <a:t>Actionable fintech growth opportunities derived from data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Product Strategy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Promote Direct Plans: Highlight 80-100 bps expense savings to attract savvy investors.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Risk-First Fund Discovery: Screen schemes by Sortino ratio and Downside Risk, not just 1Y returns.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SIP Continuity Gamification: Reward investors for unbroken 12+ month SIP discipline.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Automated Rebalancing: Flag portfolio sector concentration when HHI exceeds safe thresholds.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Market Expansion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Target B30 Growth Corridors: UPI-first micro-SIP onboarding for tier 2/3 cities.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Tax-Saving ELSS Campaigns: Peak transaction volumes occur in Q4 (Jan-March).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B2B Advisor Suite: White-label analytics dashboard for Independent Financial Advisors (IFAs).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Institutional Data API: Monetize cleaned, normalized AMFI feeds via developer APIs.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2C57"/>
                </a:solidFill>
              </a:defRPr>
            </a:pPr>
            <a:r>
              <a:t>Project Deliverables &amp; Repository Summary</a:t>
            </a:r>
          </a:p>
          <a:p>
            <a:pPr>
              <a:spcBef>
                <a:spcPts val="400"/>
              </a:spcBef>
              <a:defRPr sz="1400">
                <a:solidFill>
                  <a:srgbClr val="6C757D"/>
                </a:solidFill>
              </a:defRPr>
            </a:pPr>
            <a:r>
              <a:t>Complete capstone submission checklist &amp;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Verified Submission Deliverables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data_ingestion.py: Automated ingestion, profiling, anomaly checks &amp; validation.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live_nav_fetch.py: Live REST API ingestion for 6 target schemes from mfapi.in.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requirements.txt: Full library dependency specification.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bluestock_mf.db: SQLite 8-table star schema database.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reports/data_quality_summary.md: Comprehensive data verification report.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FINAL_REPORT.md &amp; README.md: Full project documentation.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Repository &amp; Verification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GitHub Repository: https://github.com/rajeevreddy23/Day-1-Data-ingestion-complete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Git Commit: 'Day 1: Data ingestion complete'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Code Quality: Clean PEP 8 compliance, robust error handling, fully modularized.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Submission Package: Master folder with 5 required sub-folders ready for Google Drive.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Status: 100% Tested, Verified &amp; Ready for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