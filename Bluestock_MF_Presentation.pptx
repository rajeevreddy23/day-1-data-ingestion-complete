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Arial"/>
              </a:defRPr>
            </a:pPr>
            <a:r>
              <a:t>BLUESTOCK FINTECH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Mutual Fund Analytics &amp; Intelligence Platform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End-to-End Data Pipeline, Financial Risk Analytics, Scorecards &amp; Interactive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114800"/>
            <a:ext cx="9966960" cy="1645920"/>
          </a:xfrm>
          <a:prstGeom prst="roundRect">
            <a:avLst/>
          </a:prstGeom>
          <a:solidFill>
            <a:srgbClr val="1A365D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18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CAPSTONE SPECIFICATIONS &amp; PROJECT DETAILS</a:t>
            </a:r>
          </a:p>
          <a:p>
            <a:pPr>
              <a:defRPr sz="1150">
                <a:solidFill>
                  <a:srgbClr val="FFFFFF"/>
                </a:solidFill>
                <a:latin typeface="Arial"/>
              </a:defRPr>
            </a:pPr>
            <a:r>
              <a:t>• Assigned To: Poulami Dutta (PO) | Rajeev Reddy (RA) | Thadakamalla Likith Kumar (TH)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• Capstone Project I: Mutual Fund Analytics  |  Project Start Date: 01 Sep 2026  |  Final Release: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1. Executive Summary: Problem Statement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The Core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&lt;b&gt;Data Fragmentation:&lt;/b&gt; NAV, AUM, portfolio holdings, and transaction records reside across disparate AMFI portals, static CSVs, and legacy formats.</a:t>
            </a:r>
          </a:p>
          <a:p>
            <a:pPr>
              <a:spcAft>
                <a:spcPts val="1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&lt;b&gt;High Expense Ratio Traps:&lt;/b&gt; Retail investors unknowingly forfeit 80–120 bps annually in Regular plan distributor commissions versus Direct growth plans.</a:t>
            </a:r>
          </a:p>
          <a:p>
            <a:pPr>
              <a:spcAft>
                <a:spcPts val="1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&lt;b&gt;Lagging Volatility &amp; Drawdown Assessment:&lt;/b&gt; Standard metric reporting focuses solely on trailing returns, ignoring peak-to-trough drawdowns and tail risk.</a:t>
            </a:r>
          </a:p>
          <a:p>
            <a:pPr>
              <a:spcAft>
                <a:spcPts val="1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&lt;b&gt;Sub-Optimal Asset Allocation:&lt;/b&gt; Lack of algorithmic scoring leaves retail investors vulnerable to heavy sector concentration (e.g., Financials &gt;35%).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Strategic Objectives &amp; Platform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&lt;b&gt;Automated Ingestion Pipeline:&lt;/b&gt; Consolidate 10 heterogeneous AMFI datasets with live REST API extraction from mfapi.in.</a:t>
            </a:r>
          </a:p>
          <a:p>
            <a:pPr>
              <a:spcAft>
                <a:spcPts val="1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&lt;b&gt;Star Schema SQLite Warehouse:&lt;/b&gt; Architect a high-speed relational store (bluestock_mf.db) with 10 analytical SQL views and zero FK violations.</a:t>
            </a:r>
          </a:p>
          <a:p>
            <a:pPr>
              <a:spcAft>
                <a:spcPts val="1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&lt;b&gt;Institutional Risk Engine:&lt;/b&gt; Compute 1Y/3Y/5Y CAGR, Alpha, Beta vs Nifty 100, Sharpe, Sortino, Max Drawdown, VaR (95%), CVaR, and Sector HHI.</a:t>
            </a:r>
          </a:p>
          <a:p>
            <a:pPr>
              <a:spcAft>
                <a:spcPts val="1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&lt;b&gt;Actionable Composite Scorecard:&lt;/b&gt; Rank all 40 schemes (0–100) and deploy an interactive multi-page Streamlit analytical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2. Data Ingestion Architecture &amp; Disparate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10 Unified AMFI Data Sources &amp; Live API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Comprehensive Ingestion Scope: 87,000+ Raw Records Cleaned, Validated &amp; Normalized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01_fund_master.csv           | 40 Schemes       | Scheme metadata, AMFI code, fund house, category, plan type, TER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02_nav_history.csv           | 46,000 Records   | Daily historical NAV time series (2020–2025) across all 40 funds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03_aum_by_fund_house.csv     | 44 Fund Houses   | Total AUM, market share %, and quarterly growth rankings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04_monthly_sip_inflows.csv   | 60 Months        | Industry-wide monthly SIP mobilization figures (Rs. Crore)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05_category_inflows.csv      | 36 Months        | Net capital flows across Equity, Debt, Hybrid, and Liquid categories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06_industry_folio_count.csv  | 60 Months        | Unique investor folios tracking retail vs HNI participation trends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07_scheme_performance.csv    | 40 Schemes       | Historical 1Y, 3Y, 5Y return baselines and reported benchmark indices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08_investor_transactions.csv | 32,778 Records   | Granular investor demographics (age, state, city tier, SIP continuity)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09_portfolio_holdings.csv    | 400+ Holdings    | Top 10 equity and debt holdings per scheme with sector weights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10_benchmark_indices.csv     | 1,250 Dates      | Daily closing price history for Nifty 50 and Nifty 100 benchmarks</a:t>
            </a:r>
          </a:p>
          <a:p>
            <a:pPr>
              <a:spcAft>
                <a:spcPts val="25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• Live mfapi.in REST API       | Active Web Service | Live automated endpoint fetching real-time NAVs and JSON metadata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3. End-to-End System Architecture &amp; Star Schema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6060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Layer 1: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Raw AMFI CSVs + mfapi.in REST API.</a:t>
            </a:r>
            <a:br/>
            <a:r>
              <a:t>Validates schemas, handles nulls, logs file audit.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80160"/>
            <a:ext cx="26060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1731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Layer 2: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2880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bluestock_mf.db Star Schema.</a:t>
            </a:r>
            <a:br/>
            <a:r>
              <a:t>8 normalized tables with foreign keys and index optimization.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80160"/>
            <a:ext cx="26060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1731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Layer 3: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Quantitative Risk Engine.</a:t>
            </a:r>
            <a:br/>
            <a:r>
              <a:t>CAGR, Alpha/Beta, Sharpe, Sortino, VaR/CVaR, HHI, Scorecard.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280160"/>
            <a:ext cx="26060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41731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Layer 4: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2880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Interactive Streamlit App + Power BI.</a:t>
            </a:r>
            <a:br/>
            <a:r>
              <a:t>4 executive screens, PDF tearsheets, automated recommendations.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94760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Database Star Schema Specification (bluestock_mf.db)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&lt;b&gt;dim_fund:&lt;/b&gt; 40 rows | amfi_code (PK), fund_house, scheme_name, category, sub_category, plan_type, expense_ratio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&lt;b&gt;fact_nav_history:&lt;/b&gt; 46,000 rows | nav_id (PK), amfi_code (FK), date, nav, daily_return_pct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&lt;b&gt;fact_transactions:&lt;/b&gt; 32,778 rows | txn_id (PK), amfi_code (FK), investor_id, txn_date, txn_type, amount_inr, city_tier, state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&lt;b&gt;fact_fund_scorecard:&lt;/b&gt; 40 rows | amfi_code (PK), cagr_3yr, sharpe, sortino, alpha, beta, max_drawdown, composite_score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&lt;b&gt;dim_benchmark:&lt;/b&gt; 1,250 rows | date (PK), nifty50_close, nifty100_close, daily_return_nifty100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4. Exploratory Data Analysis (Part 1): Industry Macro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669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Industry AUM Trajectory &amp; Market Share</a:t>
            </a:r>
          </a:p>
        </p:txBody>
      </p:sp>
      <p:pic>
        <p:nvPicPr>
          <p:cNvPr id="10" name="Picture 9" descr="aum_growth_by_a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539496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17319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Key Macro 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&lt;b&gt;Exponential AUM Expansion:&lt;/b&gt; Indian Mutual Fund industry AUM scaled from Rs. 27 Lakh Cr (2020) to Rs. 81.3 Lakh Cr (2025), compounding at ~24.6% annually.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&lt;b&gt;AMC Concentration:&lt;/b&gt; Top 3 AMCs (SBI, ICICI Prudential, HDFC) command &gt;52% of total industry AUM, displaying high market dominance.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&lt;b&gt;SIP Inflow Resilience:&lt;/b&gt; Monthly SIP inflows surged past Rs. 26,000 Cr in 2025, demonstrating retail stickiness even through market corrections.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&lt;b&gt;Category Flow Shifts:&lt;/b&gt; Equity schemes experienced the highest net inflows (+64%), while Debt funds saw intermittent redemptions amidst interest rate cycles.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5. Exploratory Data Analysis (Part 2): Investor Demographics &amp; B30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4846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Demographic Insights &amp; Retention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&lt;b&gt;B30 Penetration Surge:&lt;/b&gt; Beyond Top 30 (B30) cities now contribute 28% of incremental SIP folios, signaling strong tier-2 and tier-3 adoption.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&lt;b&gt;Millennial &amp; Gen-Z Participation:&lt;/b&gt; Investors aged 25–38 represent 47.8% of active folios, primarily investing through digital Direct platforms.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&lt;b&gt;SIP Continuity Analysis:&lt;/b&gt; Out of 2,950 analyzed active SIP accounts, 2,949 experienced at least one payment gap &gt; 35 days, highlighting a massive retention opportunity.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&lt;b&gt;Average Ticket Size:&lt;/b&gt; T30 investors average Rs. 4,200/month per SIP versus Rs. 1,850/month in B30 geographies, presenting high expansion headroom.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280160"/>
            <a:ext cx="5669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173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Sector Concentration &amp; Geographic Distribution</a:t>
            </a:r>
          </a:p>
        </p:txBody>
      </p:sp>
      <p:pic>
        <p:nvPicPr>
          <p:cNvPr id="13" name="Picture 12" descr="sector_hhi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28800"/>
            <a:ext cx="53949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6. Quantitative Performance Metrics: Returns &amp; Alpha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Top 5 Schemes vs Nifty 100 Benchmark</a:t>
            </a:r>
          </a:p>
        </p:txBody>
      </p:sp>
      <p:pic>
        <p:nvPicPr>
          <p:cNvPr id="10" name="Picture 9" descr="benchmark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55778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66560" y="1280160"/>
            <a:ext cx="46634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417319"/>
            <a:ext cx="4297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Top Performing Schemes (Scorecard)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&lt;b&gt;Composite Scorecard Top 3:&lt;/b&gt;&lt;br/&gt;1. ICICI Pru Midcap Fund (Score: 84.5)&lt;br/&gt;2. HDFC Mid-Cap Opportunities (Score: 82.0)&lt;br/&gt;3. Axis Midcap Fund (Score: 80.8)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&lt;b&gt;Alpha Generation vs Nifty 100:&lt;/b&gt;&lt;br/&gt;Mid-cap and Small-cap funds generated positive annual alpha between +3.2% and +6.8% over the 5-year cycle.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&lt;b&gt;Risk-Adjusted Efficiency (Sharpe &amp; Sortino):&lt;/b&gt;&lt;br/&gt;Liquid and Hybrid funds achieved high Sharpe ratios (&gt;2.5) due to minimal downside volatility (Sortino &gt; 4.0).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&lt;b&gt;Tracking Error:&lt;/b&gt; Large-cap passive index funds maintained tight tracking errors (&lt;0.45%), ensuring reliable benchmark replication.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7. Advanced Risk Analytics: Downside Risk, Drawdown &amp; VaR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90-Day Rolling Sharpe Ratio Trajectory</a:t>
            </a:r>
          </a:p>
        </p:txBody>
      </p:sp>
      <p:pic>
        <p:nvPicPr>
          <p:cNvPr id="10" name="Picture 9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55778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66560" y="1280160"/>
            <a:ext cx="46634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417319"/>
            <a:ext cx="4297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Institutional Risk Metrics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&lt;b&gt;Maximum Drawdown (Peak-to-Trough):&lt;/b&gt;&lt;br/&gt;Equity funds experienced peak drawdowns of -14.2% to -28.5% during macro shocks, with recovery horizons averaging 7.4 months.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&lt;b&gt;Historical VaR (95% Daily):&lt;/b&gt;&lt;br/&gt;Small-cap funds exhibited 95% 1-day VaR up to -2.69%, indicating potential 1-day tail losses exceeding 2.7% on volatile trading days.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&lt;b&gt;Conditional VaR (CVaR / Expected Shortfall):&lt;/b&gt;&lt;br/&gt;Quantifies average tail loss in the worst 5% of outcomes (ranging from -3.4% to -4.1% for high-beta equity).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&lt;b&gt;Herfindahl-Hirschman Index (Sector HHI):&lt;/b&gt;&lt;br/&gt;Identified portfolios with HHI &gt; 2,000 (e.g. Axis Bluechip HHI=2,064), highlighting elevated financial sector concentration.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8. Interactive Dashboard: Industry Macro &amp; Fund Screener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Screen 1: Industry Macro Trends</a:t>
            </a:r>
          </a:p>
        </p:txBody>
      </p:sp>
      <p:pic>
        <p:nvPicPr>
          <p:cNvPr id="10" name="Picture 9" descr="dashboard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93776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Screen 2: Fund Performance &amp; Scorecard</a:t>
            </a:r>
          </a:p>
        </p:txBody>
      </p:sp>
      <p:pic>
        <p:nvPicPr>
          <p:cNvPr id="13" name="Picture 12" descr="dashboard_p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49377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9. Interactive Dashboard: Investor Analytics &amp; Recommender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Screen 3: Investor Demographic Analytics</a:t>
            </a:r>
          </a:p>
        </p:txBody>
      </p:sp>
      <p:pic>
        <p:nvPicPr>
          <p:cNvPr id="10" name="Picture 9" descr="dashboard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93776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Arial"/>
              </a:defRPr>
            </a:pPr>
            <a:r>
              <a:t>Screen 4: Market Trends &amp; Recommender</a:t>
            </a:r>
          </a:p>
        </p:txBody>
      </p:sp>
      <p:pic>
        <p:nvPicPr>
          <p:cNvPr id="13" name="Picture 12" descr="dashboard_pag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49377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10. Strategic Business Recommendations for Bluestock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Confidential • Bluestock Fintech Analytics • Group: 62FMBF • Author: Rajeev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1. Direct Plan Migration Tool — Impact: High Acquisition &amp; AUM Growth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Develop an automated calculator demonstrating the 15-year compounding differential of saving 80–100 bps 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2. Predictive SIP Retention Alerts — Impact: Reduces Investor Churn by ~35%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Deploy automated WhatsApp and in-app nudges when a user's SIP gap exceeds 25 days to curb the 2,949 at-risk lapses.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79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3. Regional B30 Expansion — Impact: Captures Untapped Demographic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Launch vernacular educational modules and micro-SIPs (Rs. 250/mo) tailored to emerging tier-2/3 cities.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8348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4. Automated Portfolio Rebalancing — Impact: Institutional-Grade Safety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Incorporate real-time Sector HHI alerts and VaR thresholds to prevent retail portfolios exceeding 30% single-sector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Arial"/>
              </a:defRPr>
            </a:pPr>
            <a:r>
              <a:t>BLUESTOCK FINTECH • MUTUAL FUND ANALYTICS</a:t>
            </a:r>
          </a:p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>
              <a:defRPr sz="1800">
                <a:solidFill>
                  <a:srgbClr val="CBD5E1"/>
                </a:solidFill>
                <a:latin typeface="Arial"/>
              </a:defRPr>
            </a:pPr>
            <a:r>
              <a:t>Questions &amp; Discussions Welcome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931920"/>
            <a:ext cx="9418320" cy="2011680"/>
          </a:xfrm>
          <a:prstGeom prst="roundRect">
            <a:avLst/>
          </a:prstGeom>
          <a:solidFill>
            <a:srgbClr val="1A365D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8869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&lt;b&gt;Repository &amp; Deliverables:&lt;/b&gt; GitHub: rajeevreddy23/Day-1-Data-ingestion-complete (Tag: v1.0)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&lt;b&gt;Pipeline Execution:&lt;/b&gt; python run_pipeline.py (Automated ingestion, cleaning, analytics &amp; audit)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&lt;b&gt;Interactive Dashboard:&lt;/b&gt; streamlit run dashboard/capstone_dashboard.py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&lt;b&gt;Capstone Team:&lt;/b&gt; Poulami Dutta (PO) • Rajeev Reddy (RA) • Thadakamalla Likith Kumar (TH)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